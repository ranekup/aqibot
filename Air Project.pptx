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7" r:id="rId7"/>
    <p:sldId id="268" r:id="rId8"/>
    <p:sldId id="264" r:id="rId9"/>
    <p:sldId id="265" r:id="rId10"/>
    <p:sldId id="263" r:id="rId11"/>
    <p:sldId id="266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383" autoAdjust="0"/>
    <p:restoredTop sz="94660"/>
  </p:normalViewPr>
  <p:slideViewPr>
    <p:cSldViewPr snapToGrid="0" showGuides="1">
      <p:cViewPr varScale="1">
        <p:scale>
          <a:sx n="108" d="100"/>
          <a:sy n="108" d="100"/>
        </p:scale>
        <p:origin x="582" y="1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dirty="0"/>
              <a:t>Затраты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0.37222375589505491"/>
          <c:y val="0.18971176222118347"/>
          <c:w val="0.27414489025525196"/>
          <c:h val="0.60249858779069798"/>
        </c:manualLayout>
      </c:layout>
      <c:doughnut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Продажи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cat>
            <c:strRef>
              <c:f>Лист1!$A$2:$A$5</c:f>
              <c:strCache>
                <c:ptCount val="4"/>
                <c:pt idx="0">
                  <c:v>Реклама</c:v>
                </c:pt>
                <c:pt idx="1">
                  <c:v>Оборудование</c:v>
                </c:pt>
                <c:pt idx="2">
                  <c:v>Разработка</c:v>
                </c:pt>
                <c:pt idx="3">
                  <c:v>Сервера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200000</c:v>
                </c:pt>
                <c:pt idx="1">
                  <c:v>300000</c:v>
                </c:pt>
                <c:pt idx="2">
                  <c:v>300000</c:v>
                </c:pt>
                <c:pt idx="3">
                  <c:v>120000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B35-4564-ABA0-12024F7FA4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s://presentation-creation.ru/" TargetMode="External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presentation-creation.ru/" TargetMode="External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9C825F-AAE9-4388-9E5D-44CD2DF9F2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512956"/>
            <a:ext cx="8976732" cy="1518767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8039D7D-9754-4A0F-BC09-70DF84ADD7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197438"/>
            <a:ext cx="5339786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82072C2-AEB8-4A11-B5E6-0A0042067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5CEE2-44D1-4C01-BD46-E6EDC2585EF5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506507C-1F74-4516-9A16-92B8D09C6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AE10741-3173-4BCE-816D-9218FC4FD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344F2-3142-48E6-9654-71CE769E4527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299794AB-AB59-4675-870A-95D7F6AE3DF6}"/>
              </a:ext>
            </a:extLst>
          </p:cNvPr>
          <p:cNvSpPr/>
          <p:nvPr userDrawn="1"/>
        </p:nvSpPr>
        <p:spPr>
          <a:xfrm rot="16200000">
            <a:off x="13647006" y="1690688"/>
            <a:ext cx="2482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rgbClr val="E6E6E6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rgbClr val="E6E6E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0137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55440B-8AB2-4AFF-9551-4526C992F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988" y="351263"/>
            <a:ext cx="9562723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1413119-03FA-4BDA-8647-1B3E342BD9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988" y="1815442"/>
            <a:ext cx="9562722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F71B780-90DA-4BCC-A4A2-AB6AF543F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5CEE2-44D1-4C01-BD46-E6EDC2585EF5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343545A-1E5D-41C3-B379-CA2672D19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ED1D5A8-BA87-48AB-B725-AB9CF5ED8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344F2-3142-48E6-9654-71CE769E4527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47E1F17-2AD0-48DF-833D-A5B3633EF3BD}"/>
              </a:ext>
            </a:extLst>
          </p:cNvPr>
          <p:cNvSpPr/>
          <p:nvPr userDrawn="1"/>
        </p:nvSpPr>
        <p:spPr>
          <a:xfrm rot="16200000">
            <a:off x="13647006" y="1690688"/>
            <a:ext cx="2482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rgbClr val="E6E6E6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rgbClr val="E6E6E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6015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55E446-0703-48EF-BB6F-F2B4732E8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333ABA3-7BCE-4665-87C5-EB7317E3A5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9FCD47D-A0D4-40BE-AD70-DB41CC99B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5CEE2-44D1-4C01-BD46-E6EDC2585EF5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C239AD0-9E7A-4AE1-BD65-633479276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E06752B-73D0-430E-9448-9D402F44C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344F2-3142-48E6-9654-71CE769E45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3687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5CBE43-BAFD-401E-8208-234129E27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B80FD30-F06A-44AF-8F46-0ABEFD004F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2B8EA19-8DB8-4B1D-89DE-6179D8A016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4D0C65B-6E26-4184-B12A-CAE6A7341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5CEE2-44D1-4C01-BD46-E6EDC2585EF5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3FD0FD4-B13F-4B99-95B5-93821142D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4E94E15-549A-45D9-BD1E-1EAFAF0E0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344F2-3142-48E6-9654-71CE769E45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1233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FDA53B-D74A-401A-A1AF-3DCC549D0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321958B-EE5C-4CEF-AD82-C04B379D03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A4CD889-0FC4-4D82-9155-15CEE29B24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7917133-E168-41AD-BDDF-59945BB98F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6C95F17-366E-41B9-B578-FBAE69C96B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1C936FD-B8B7-4F01-A815-ACBCFC2EE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5CEE2-44D1-4C01-BD46-E6EDC2585EF5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2BEF883-1D1E-4D40-AD93-0EA9B8476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A9D5491-75DC-486C-92B0-758831EE7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344F2-3142-48E6-9654-71CE769E45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4754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E33FD8-5444-43C7-A061-8CDF2B973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4AC91DB-E5E8-4480-A65C-A9414BC23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5CEE2-44D1-4C01-BD46-E6EDC2585EF5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385D0D1-E2C3-42DA-9315-679D16DCA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593AED9-2CDB-4046-9953-CC3A3AFE8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344F2-3142-48E6-9654-71CE769E45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0140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0A6D651-7F5B-43B3-BE8F-C25753001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5CEE2-44D1-4C01-BD46-E6EDC2585EF5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394567F-BA76-47AF-86F8-274F2412C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92C0EFF-9992-428A-B187-ACBC7443D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344F2-3142-48E6-9654-71CE769E45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9492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06F907-77D3-45DC-802B-06D07F80D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CC46CDC-3712-4AE3-A3C7-5648358FD2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D5CAAE3-9B08-420C-BC1C-9EB2684BFD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C0B9994-4162-41A4-ADE5-4B15D4680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5CEE2-44D1-4C01-BD46-E6EDC2585EF5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61AC549-A89C-442D-B361-6DFA6B111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2219D27-016F-4F11-A71E-DE547D925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344F2-3142-48E6-9654-71CE769E45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1264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64E543-3629-498A-929A-523DCCEC1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8A69894-0214-490A-9BE4-F3D02CE9BE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656A7EC-2315-4BAF-A6B4-F677B07493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E845ACA-2435-4467-8276-5A53EAFF7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5CEE2-44D1-4C01-BD46-E6EDC2585EF5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2499485-1E98-469A-B1AF-A62CD107D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CE8AA6A-DDB9-4135-9A43-613FF0BED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344F2-3142-48E6-9654-71CE769E45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2992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721B87-45E8-4637-81F2-629EA8EAD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AABDCCE-2E1C-4289-B99C-E14C2D0E5D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DD43478-9103-42B3-8D35-E230F5ADB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5CEE2-44D1-4C01-BD46-E6EDC2585EF5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46C88E2-1ED8-42D4-87A4-0D452D9E5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BE3A690-63FE-4DAB-8693-9DCBB607D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344F2-3142-48E6-9654-71CE769E45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8824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84312C3-05C0-41CE-B973-2B7516AC23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1C9251F-BE0A-482A-A476-4BC35D9D28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6B548D7-6A91-4AB7-AF3C-593AEE497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5CEE2-44D1-4C01-BD46-E6EDC2585EF5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8A06FFA-E3E1-4075-96AB-4A3FF54AE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3FFC261-351E-45A2-A881-72F4FE8B7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344F2-3142-48E6-9654-71CE769E45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6919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hyperlink" Target="https://presentation-creation.ru/" TargetMode="Externa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7C4F43-30CD-4196-9266-8C0504B14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EE96781-784A-4901-B46E-ADFAEBC1D3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BCE129B-7DDC-4CD3-96E6-FEF5FB3D8D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05CEE2-44D1-4C01-BD46-E6EDC2585EF5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5F647F3-8D51-4CE5-8221-CE0FD1525D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44B2CA1-25FB-4F56-87DB-0580A981E4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8344F2-3142-48E6-9654-71CE769E4527}" type="slidenum">
              <a:rPr lang="ru-RU" smtClean="0"/>
              <a:t>‹#›</a:t>
            </a:fld>
            <a:endParaRPr lang="ru-RU"/>
          </a:p>
        </p:txBody>
      </p:sp>
      <p:pic>
        <p:nvPicPr>
          <p:cNvPr id="8" name="Рисунок 7">
            <a:hlinkClick r:id="rId13"/>
            <a:extLst>
              <a:ext uri="{FF2B5EF4-FFF2-40B4-BE49-F238E27FC236}">
                <a16:creationId xmlns:a16="http://schemas.microsoft.com/office/drawing/2014/main" id="{63EDA966-953B-4EDE-AB6D-20376AC3C0C5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758584" y="-1519762"/>
            <a:ext cx="757762" cy="757762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8E6D3EB9-8343-40EF-AF3F-E5CDE49D727D}"/>
              </a:ext>
            </a:extLst>
          </p:cNvPr>
          <p:cNvSpPr/>
          <p:nvPr userDrawn="1"/>
        </p:nvSpPr>
        <p:spPr>
          <a:xfrm rot="16200000">
            <a:off x="13647006" y="1690688"/>
            <a:ext cx="2482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rgbClr val="E6E6E6"/>
                </a:solidFill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rgbClr val="E6E6E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70517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presentation-creation.ru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presentation-creation.ru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presentation-creation.ru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presentation-creation.ru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presentation-creation.ru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3A28DC-B585-45FE-BA8A-63A2801E9C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b="1" dirty="0"/>
              <a:t>Air Project</a:t>
            </a:r>
            <a:endParaRPr lang="ru-RU" sz="4400" b="1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EB8C2F6-31E4-4A33-BC3B-1511CC9C65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Ваш персональный щит от загрязнения воздуха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5B014B-3FFB-287E-9598-AA2410D0F922}"/>
              </a:ext>
            </a:extLst>
          </p:cNvPr>
          <p:cNvSpPr txBox="1"/>
          <p:nvPr/>
        </p:nvSpPr>
        <p:spPr>
          <a:xfrm>
            <a:off x="10821880" y="8878"/>
            <a:ext cx="15003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Зайцев Егор</a:t>
            </a:r>
            <a:br>
              <a:rPr lang="ru-RU" dirty="0">
                <a:solidFill>
                  <a:schemeClr val="bg1"/>
                </a:solidFill>
              </a:rPr>
            </a:br>
            <a:r>
              <a:rPr lang="ru-RU" dirty="0">
                <a:solidFill>
                  <a:schemeClr val="bg1"/>
                </a:solidFill>
              </a:rPr>
              <a:t>ии-72</a:t>
            </a:r>
          </a:p>
        </p:txBody>
      </p:sp>
    </p:spTree>
    <p:extLst>
      <p:ext uri="{BB962C8B-B14F-4D97-AF65-F5344CB8AC3E}">
        <p14:creationId xmlns:p14="http://schemas.microsoft.com/office/powerpoint/2010/main" val="589106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260471-CF37-41A6-A525-02DD85A55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Проблема (Почему это важно?)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B720475-F851-41C1-BF95-88BDC044B5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988" y="1815442"/>
            <a:ext cx="9562722" cy="3022888"/>
          </a:xfrm>
        </p:spPr>
        <p:txBody>
          <a:bodyPr>
            <a:normAutofit lnSpcReduction="10000"/>
          </a:bodyPr>
          <a:lstStyle/>
          <a:p>
            <a:r>
              <a:rPr lang="ru-RU" dirty="0"/>
              <a:t>Традиционные сервисы показывают «посмертную» аналитику (то, что уже случилось).</a:t>
            </a:r>
          </a:p>
          <a:p>
            <a:r>
              <a:rPr lang="ru-RU" dirty="0"/>
              <a:t>Очень малое количество Российских аналогов</a:t>
            </a:r>
          </a:p>
          <a:p>
            <a:r>
              <a:rPr lang="ru-RU" dirty="0"/>
              <a:t>В промышленных регионах смог накрывает районы за 30-40 минут.</a:t>
            </a:r>
          </a:p>
          <a:p>
            <a:r>
              <a:rPr lang="ru-RU" dirty="0"/>
              <a:t>Жителям нужно планировать день: когда вести ребенка в сад, когда выходить на пробежку, а когда закрыть окна.</a:t>
            </a:r>
          </a:p>
        </p:txBody>
      </p:sp>
      <p:sp>
        <p:nvSpPr>
          <p:cNvPr id="4" name="Нижний колонтитул 4">
            <a:extLst>
              <a:ext uri="{FF2B5EF4-FFF2-40B4-BE49-F238E27FC236}">
                <a16:creationId xmlns:a16="http://schemas.microsoft.com/office/drawing/2014/main" id="{E08C957F-4112-4133-9044-85BF40051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000" y="6590454"/>
            <a:ext cx="7650000" cy="365126"/>
          </a:xfrm>
        </p:spPr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Шаблоны презентаций с сайта </a:t>
            </a:r>
            <a:r>
              <a:rPr lang="en-US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89880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99E12B-8768-4CD4-9A08-920518790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Решение</a:t>
            </a:r>
            <a:endParaRPr lang="ru-RU" dirty="0"/>
          </a:p>
        </p:txBody>
      </p:sp>
      <p:sp>
        <p:nvSpPr>
          <p:cNvPr id="4" name="Нижний колонтитул 4">
            <a:extLst>
              <a:ext uri="{FF2B5EF4-FFF2-40B4-BE49-F238E27FC236}">
                <a16:creationId xmlns:a16="http://schemas.microsoft.com/office/drawing/2014/main" id="{F5A4AB3F-77F6-4967-BD2B-5B5543ECB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000" y="6590454"/>
            <a:ext cx="7650000" cy="365126"/>
          </a:xfrm>
        </p:spPr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Шаблоны презентаций с сайта </a:t>
            </a:r>
            <a:r>
              <a:rPr lang="en-US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/>
          </a:p>
        </p:txBody>
      </p:sp>
      <p:sp>
        <p:nvSpPr>
          <p:cNvPr id="5" name="Прямоугольник 3">
            <a:extLst>
              <a:ext uri="{FF2B5EF4-FFF2-40B4-BE49-F238E27FC236}">
                <a16:creationId xmlns:a16="http://schemas.microsoft.com/office/drawing/2014/main" id="{77759CA4-F318-4EEF-8EDF-E8ECBE2AF55F}"/>
              </a:ext>
            </a:extLst>
          </p:cNvPr>
          <p:cNvSpPr/>
          <p:nvPr/>
        </p:nvSpPr>
        <p:spPr>
          <a:xfrm>
            <a:off x="415928" y="2753713"/>
            <a:ext cx="2601905" cy="286948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" name="Овал 4">
            <a:extLst>
              <a:ext uri="{FF2B5EF4-FFF2-40B4-BE49-F238E27FC236}">
                <a16:creationId xmlns:a16="http://schemas.microsoft.com/office/drawing/2014/main" id="{A2E2022E-7A7D-44A7-B223-B474D6748697}"/>
              </a:ext>
            </a:extLst>
          </p:cNvPr>
          <p:cNvSpPr/>
          <p:nvPr/>
        </p:nvSpPr>
        <p:spPr>
          <a:xfrm>
            <a:off x="1283036" y="2412411"/>
            <a:ext cx="733425" cy="73342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2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BA44A3-5B01-4201-8951-02A1614834FC}"/>
              </a:ext>
            </a:extLst>
          </p:cNvPr>
          <p:cNvSpPr txBox="1"/>
          <p:nvPr/>
        </p:nvSpPr>
        <p:spPr>
          <a:xfrm>
            <a:off x="1292562" y="2419823"/>
            <a:ext cx="733424" cy="707886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ru-RU" sz="4000" b="1" dirty="0">
                <a:solidFill>
                  <a:schemeClr val="tx2"/>
                </a:solidFill>
              </a:rPr>
              <a:t>1</a:t>
            </a:r>
          </a:p>
        </p:txBody>
      </p:sp>
      <p:sp>
        <p:nvSpPr>
          <p:cNvPr id="8" name="Прямоугольник 6">
            <a:extLst>
              <a:ext uri="{FF2B5EF4-FFF2-40B4-BE49-F238E27FC236}">
                <a16:creationId xmlns:a16="http://schemas.microsoft.com/office/drawing/2014/main" id="{1B352E6A-49F3-4133-9ECA-70B57489E36F}"/>
              </a:ext>
            </a:extLst>
          </p:cNvPr>
          <p:cNvSpPr/>
          <p:nvPr/>
        </p:nvSpPr>
        <p:spPr>
          <a:xfrm>
            <a:off x="3494095" y="2752938"/>
            <a:ext cx="2601905" cy="286948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8EFA5B75-221E-4B08-BE0B-CEEF26A957FB}"/>
              </a:ext>
            </a:extLst>
          </p:cNvPr>
          <p:cNvSpPr txBox="1">
            <a:spLocks/>
          </p:cNvSpPr>
          <p:nvPr/>
        </p:nvSpPr>
        <p:spPr>
          <a:xfrm>
            <a:off x="3589139" y="3260672"/>
            <a:ext cx="2411816" cy="2246135"/>
          </a:xfrm>
          <a:prstGeom prst="rect">
            <a:avLst/>
          </a:prstGeom>
          <a:noFill/>
          <a:effectLst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dirty="0">
                <a:solidFill>
                  <a:schemeClr val="bg1"/>
                </a:solidFill>
              </a:rPr>
              <a:t>Быстрый расчёт данных</a:t>
            </a:r>
          </a:p>
        </p:txBody>
      </p:sp>
      <p:sp>
        <p:nvSpPr>
          <p:cNvPr id="10" name="Овал 8">
            <a:extLst>
              <a:ext uri="{FF2B5EF4-FFF2-40B4-BE49-F238E27FC236}">
                <a16:creationId xmlns:a16="http://schemas.microsoft.com/office/drawing/2014/main" id="{495EB356-D874-4208-9DAF-EF2D11F51DD1}"/>
              </a:ext>
            </a:extLst>
          </p:cNvPr>
          <p:cNvSpPr/>
          <p:nvPr/>
        </p:nvSpPr>
        <p:spPr>
          <a:xfrm>
            <a:off x="4361203" y="2411636"/>
            <a:ext cx="733425" cy="73342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2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A4915C-4A1B-4446-BD59-5480CE6F4599}"/>
              </a:ext>
            </a:extLst>
          </p:cNvPr>
          <p:cNvSpPr txBox="1"/>
          <p:nvPr/>
        </p:nvSpPr>
        <p:spPr>
          <a:xfrm>
            <a:off x="4370729" y="2409168"/>
            <a:ext cx="733424" cy="707886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chemeClr val="tx2"/>
                </a:solidFill>
              </a:rPr>
              <a:t>2</a:t>
            </a:r>
            <a:endParaRPr lang="ru-RU" sz="4000" b="1" dirty="0">
              <a:solidFill>
                <a:schemeClr val="tx2"/>
              </a:solidFill>
            </a:endParaRPr>
          </a:p>
        </p:txBody>
      </p:sp>
      <p:sp>
        <p:nvSpPr>
          <p:cNvPr id="12" name="Прямоугольник 10">
            <a:extLst>
              <a:ext uri="{FF2B5EF4-FFF2-40B4-BE49-F238E27FC236}">
                <a16:creationId xmlns:a16="http://schemas.microsoft.com/office/drawing/2014/main" id="{31FC9D33-3B06-4165-97B7-35C6BA4865C4}"/>
              </a:ext>
            </a:extLst>
          </p:cNvPr>
          <p:cNvSpPr/>
          <p:nvPr/>
        </p:nvSpPr>
        <p:spPr>
          <a:xfrm>
            <a:off x="6572263" y="2752938"/>
            <a:ext cx="2601905" cy="286948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09D70F29-8E2A-41E0-86FA-0D640A379E08}"/>
              </a:ext>
            </a:extLst>
          </p:cNvPr>
          <p:cNvSpPr/>
          <p:nvPr/>
        </p:nvSpPr>
        <p:spPr>
          <a:xfrm>
            <a:off x="7439371" y="2411636"/>
            <a:ext cx="733425" cy="73342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2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D473F5E-08EB-41FE-9901-9893F1CBB03E}"/>
              </a:ext>
            </a:extLst>
          </p:cNvPr>
          <p:cNvSpPr txBox="1"/>
          <p:nvPr/>
        </p:nvSpPr>
        <p:spPr>
          <a:xfrm>
            <a:off x="7448896" y="2408393"/>
            <a:ext cx="733424" cy="707886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chemeClr val="tx2"/>
                </a:solidFill>
              </a:rPr>
              <a:t>3</a:t>
            </a:r>
            <a:endParaRPr lang="ru-RU" sz="4000" b="1" dirty="0">
              <a:solidFill>
                <a:schemeClr val="tx2"/>
              </a:solidFill>
            </a:endParaRPr>
          </a:p>
        </p:txBody>
      </p:sp>
      <p:sp>
        <p:nvSpPr>
          <p:cNvPr id="15" name="Объект 2">
            <a:extLst>
              <a:ext uri="{FF2B5EF4-FFF2-40B4-BE49-F238E27FC236}">
                <a16:creationId xmlns:a16="http://schemas.microsoft.com/office/drawing/2014/main" id="{4F1CC8BA-C1A3-466D-8B8D-33DCBAA81B7A}"/>
              </a:ext>
            </a:extLst>
          </p:cNvPr>
          <p:cNvSpPr txBox="1">
            <a:spLocks/>
          </p:cNvSpPr>
          <p:nvPr/>
        </p:nvSpPr>
        <p:spPr>
          <a:xfrm>
            <a:off x="6723989" y="3191087"/>
            <a:ext cx="2411816" cy="2246135"/>
          </a:xfrm>
          <a:prstGeom prst="rect">
            <a:avLst/>
          </a:prstGeom>
          <a:noFill/>
          <a:effectLst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dirty="0">
                <a:solidFill>
                  <a:schemeClr val="bg1"/>
                </a:solidFill>
              </a:rPr>
              <a:t>Приложение показывает прогноз</a:t>
            </a:r>
            <a:r>
              <a:rPr lang="en-US" sz="2400" dirty="0">
                <a:solidFill>
                  <a:schemeClr val="bg1"/>
                </a:solidFill>
              </a:rPr>
              <a:t>, </a:t>
            </a:r>
            <a:r>
              <a:rPr lang="ru-RU" sz="2400" dirty="0">
                <a:solidFill>
                  <a:schemeClr val="bg1"/>
                </a:solidFill>
              </a:rPr>
              <a:t>а не просто данные с датчика</a:t>
            </a:r>
          </a:p>
        </p:txBody>
      </p:sp>
      <p:sp>
        <p:nvSpPr>
          <p:cNvPr id="16" name="Объект 2">
            <a:extLst>
              <a:ext uri="{FF2B5EF4-FFF2-40B4-BE49-F238E27FC236}">
                <a16:creationId xmlns:a16="http://schemas.microsoft.com/office/drawing/2014/main" id="{431C49B2-D5E1-43B3-AD17-FE913B178C1A}"/>
              </a:ext>
            </a:extLst>
          </p:cNvPr>
          <p:cNvSpPr txBox="1">
            <a:spLocks/>
          </p:cNvSpPr>
          <p:nvPr/>
        </p:nvSpPr>
        <p:spPr>
          <a:xfrm>
            <a:off x="415928" y="3191087"/>
            <a:ext cx="2506860" cy="2246135"/>
          </a:xfrm>
          <a:prstGeom prst="rect">
            <a:avLst/>
          </a:prstGeom>
          <a:noFill/>
          <a:effectLst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dirty="0">
                <a:solidFill>
                  <a:schemeClr val="bg1"/>
                </a:solidFill>
              </a:rPr>
              <a:t>приложение строит </a:t>
            </a:r>
            <a:r>
              <a:rPr lang="ru-RU" sz="2400" b="1" dirty="0">
                <a:solidFill>
                  <a:schemeClr val="bg1"/>
                </a:solidFill>
              </a:rPr>
              <a:t>прогноз качества воздуха на 24 часа</a:t>
            </a:r>
            <a:endParaRPr lang="ru-RU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4255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260471-CF37-41A6-A525-02DD85A55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Как работает ИИ?</a:t>
            </a:r>
            <a:endParaRPr lang="ru-RU" dirty="0"/>
          </a:p>
        </p:txBody>
      </p:sp>
      <p:sp>
        <p:nvSpPr>
          <p:cNvPr id="4" name="Нижний колонтитул 4">
            <a:extLst>
              <a:ext uri="{FF2B5EF4-FFF2-40B4-BE49-F238E27FC236}">
                <a16:creationId xmlns:a16="http://schemas.microsoft.com/office/drawing/2014/main" id="{E08C957F-4112-4133-9044-85BF40051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000" y="6590454"/>
            <a:ext cx="7650000" cy="365126"/>
          </a:xfrm>
        </p:spPr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Шаблоны презентаций с сайта </a:t>
            </a:r>
            <a:r>
              <a:rPr lang="en-US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1EA150-1758-1AD2-F3F4-F616CD409D21}"/>
              </a:ext>
            </a:extLst>
          </p:cNvPr>
          <p:cNvSpPr txBox="1"/>
          <p:nvPr/>
        </p:nvSpPr>
        <p:spPr>
          <a:xfrm>
            <a:off x="488272" y="2095130"/>
            <a:ext cx="8078679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/>
              <a:t>Метеорология:</a:t>
            </a:r>
            <a:r>
              <a:rPr lang="ru-RU" sz="3200" dirty="0"/>
              <a:t> Учет инверсий температуры, скорости и направления ветра в Кемеровской котловине.</a:t>
            </a:r>
          </a:p>
          <a:p>
            <a:r>
              <a:rPr lang="ru-RU" sz="3200" b="1" dirty="0"/>
              <a:t>График выбросов:</a:t>
            </a:r>
            <a:r>
              <a:rPr lang="ru-RU" sz="3200" dirty="0"/>
              <a:t> Анализ циклов работы предприятий и интенсивности трафика.</a:t>
            </a:r>
          </a:p>
          <a:p>
            <a:r>
              <a:rPr lang="ru-RU" sz="3200" b="1" dirty="0"/>
              <a:t>ML-модель:</a:t>
            </a:r>
            <a:r>
              <a:rPr lang="ru-RU" sz="3200" dirty="0"/>
              <a:t> Нейросеть, обученная на исторических данных НМУ (черного неба) в Кузбассе за последние 5 лет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11276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260471-CF37-41A6-A525-02DD85A55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Планирование для групп риска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D57510-DE25-5BE3-8DF4-510683466432}"/>
              </a:ext>
            </a:extLst>
          </p:cNvPr>
          <p:cNvSpPr txBox="1"/>
          <p:nvPr/>
        </p:nvSpPr>
        <p:spPr>
          <a:xfrm>
            <a:off x="838200" y="1908699"/>
            <a:ext cx="8971625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/>
              <a:t>Польза:</a:t>
            </a:r>
            <a:endParaRPr lang="ru-RU" sz="3200" dirty="0"/>
          </a:p>
          <a:p>
            <a:pPr lvl="1"/>
            <a:r>
              <a:rPr lang="ru-RU" sz="3200" b="1" dirty="0"/>
              <a:t>Для родителей:</a:t>
            </a:r>
            <a:r>
              <a:rPr lang="ru-RU" sz="3200" dirty="0"/>
              <a:t> Прогноз на время дневной прогулки.</a:t>
            </a:r>
          </a:p>
          <a:p>
            <a:pPr lvl="1"/>
            <a:r>
              <a:rPr lang="ru-RU" sz="3200" b="1" dirty="0"/>
              <a:t>Для аллергиков:</a:t>
            </a:r>
            <a:r>
              <a:rPr lang="ru-RU" sz="3200" dirty="0"/>
              <a:t> Предупреждение о накоплении взвешенных частиц PM2.5.</a:t>
            </a:r>
          </a:p>
          <a:p>
            <a:pPr lvl="1"/>
            <a:r>
              <a:rPr lang="ru-RU" sz="3200" b="1" dirty="0"/>
              <a:t>Для спортсменов:</a:t>
            </a:r>
            <a:r>
              <a:rPr lang="ru-RU" sz="3200" dirty="0"/>
              <a:t> Рекомендации о занятиях на улице.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23620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0FFB5B-1AC5-DE4D-D0A2-DDA71EF36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Экономика</a:t>
            </a:r>
          </a:p>
        </p:txBody>
      </p:sp>
      <p:graphicFrame>
        <p:nvGraphicFramePr>
          <p:cNvPr id="7" name="Объект 6">
            <a:extLst>
              <a:ext uri="{FF2B5EF4-FFF2-40B4-BE49-F238E27FC236}">
                <a16:creationId xmlns:a16="http://schemas.microsoft.com/office/drawing/2014/main" id="{043BFE52-9438-6909-7380-C9806776671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09498876"/>
              </p:ext>
            </p:extLst>
          </p:nvPr>
        </p:nvGraphicFramePr>
        <p:xfrm>
          <a:off x="2798886" y="152501"/>
          <a:ext cx="8307079" cy="38424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E5C3C2E-E2C5-74EA-FB49-1693003EB914}"/>
              </a:ext>
            </a:extLst>
          </p:cNvPr>
          <p:cNvSpPr txBox="1"/>
          <p:nvPr/>
        </p:nvSpPr>
        <p:spPr>
          <a:xfrm>
            <a:off x="559293" y="1748901"/>
            <a:ext cx="330249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Затраты</a:t>
            </a:r>
            <a:r>
              <a:rPr lang="en-US" dirty="0"/>
              <a:t>:</a:t>
            </a:r>
            <a:br>
              <a:rPr lang="en-US" dirty="0"/>
            </a:br>
            <a:r>
              <a:rPr lang="ru-RU" dirty="0"/>
              <a:t>Реклама</a:t>
            </a:r>
            <a:r>
              <a:rPr lang="en-US" dirty="0"/>
              <a:t>: </a:t>
            </a:r>
            <a:r>
              <a:rPr lang="ru-RU" dirty="0"/>
              <a:t>200000р</a:t>
            </a:r>
          </a:p>
          <a:p>
            <a:r>
              <a:rPr lang="ru-RU" dirty="0"/>
              <a:t>Оборудование</a:t>
            </a:r>
            <a:r>
              <a:rPr lang="en-US" dirty="0"/>
              <a:t>: </a:t>
            </a:r>
            <a:r>
              <a:rPr lang="ru-RU" dirty="0"/>
              <a:t>30</a:t>
            </a:r>
            <a:r>
              <a:rPr lang="en-US" dirty="0"/>
              <a:t>0000</a:t>
            </a:r>
            <a:r>
              <a:rPr lang="ru-RU" dirty="0"/>
              <a:t>р</a:t>
            </a:r>
          </a:p>
          <a:p>
            <a:r>
              <a:rPr lang="ru-RU" dirty="0"/>
              <a:t>Разработка</a:t>
            </a:r>
            <a:r>
              <a:rPr lang="en-US" dirty="0"/>
              <a:t>: 300000</a:t>
            </a:r>
            <a:r>
              <a:rPr lang="ru-RU" dirty="0"/>
              <a:t>р</a:t>
            </a:r>
          </a:p>
          <a:p>
            <a:r>
              <a:rPr lang="ru-RU" dirty="0"/>
              <a:t>Сервера</a:t>
            </a:r>
            <a:r>
              <a:rPr lang="en-US" dirty="0"/>
              <a:t>:</a:t>
            </a:r>
            <a:r>
              <a:rPr lang="ru-RU" dirty="0"/>
              <a:t> 6</a:t>
            </a:r>
            <a:r>
              <a:rPr lang="en-US" dirty="0"/>
              <a:t>0000</a:t>
            </a:r>
            <a:r>
              <a:rPr lang="ru-RU" dirty="0"/>
              <a:t>р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BDA1E4-7254-81BF-25C7-AEFED712ACBD}"/>
              </a:ext>
            </a:extLst>
          </p:cNvPr>
          <p:cNvSpPr txBox="1"/>
          <p:nvPr/>
        </p:nvSpPr>
        <p:spPr>
          <a:xfrm>
            <a:off x="559293" y="4279037"/>
            <a:ext cx="39328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Прибыль</a:t>
            </a:r>
            <a:r>
              <a:rPr lang="en-US" dirty="0"/>
              <a:t>:</a:t>
            </a:r>
          </a:p>
          <a:p>
            <a:r>
              <a:rPr lang="en-US" dirty="0"/>
              <a:t>B2C </a:t>
            </a:r>
            <a:r>
              <a:rPr lang="ru-RU" dirty="0"/>
              <a:t>Подписки</a:t>
            </a:r>
            <a:r>
              <a:rPr lang="en-US" dirty="0"/>
              <a:t>: 50000</a:t>
            </a:r>
            <a:r>
              <a:rPr lang="ru-RU" dirty="0"/>
              <a:t>р</a:t>
            </a:r>
            <a:r>
              <a:rPr lang="en-US" dirty="0"/>
              <a:t>/</a:t>
            </a:r>
            <a:r>
              <a:rPr lang="ru-RU" dirty="0" err="1"/>
              <a:t>мес</a:t>
            </a:r>
            <a:endParaRPr lang="ru-RU" dirty="0"/>
          </a:p>
          <a:p>
            <a:r>
              <a:rPr lang="en-US" dirty="0"/>
              <a:t>B2B </a:t>
            </a:r>
            <a:r>
              <a:rPr lang="ru-RU" dirty="0"/>
              <a:t>клиенты(компании)</a:t>
            </a:r>
            <a:r>
              <a:rPr lang="en-US" dirty="0"/>
              <a:t>: 10</a:t>
            </a:r>
            <a:r>
              <a:rPr lang="ru-RU" dirty="0"/>
              <a:t>0</a:t>
            </a:r>
            <a:r>
              <a:rPr lang="en-US" dirty="0"/>
              <a:t>000</a:t>
            </a:r>
            <a:r>
              <a:rPr lang="ru-RU" dirty="0"/>
              <a:t>р</a:t>
            </a:r>
            <a:r>
              <a:rPr lang="en-US" dirty="0"/>
              <a:t>/</a:t>
            </a:r>
            <a:r>
              <a:rPr lang="ru-RU" dirty="0" err="1"/>
              <a:t>мес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4709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A7BA92-48F3-C9AC-93A9-511A781A5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Окупаемость</a:t>
            </a:r>
          </a:p>
        </p:txBody>
      </p:sp>
      <p:sp>
        <p:nvSpPr>
          <p:cNvPr id="21" name="Объект 20">
            <a:extLst>
              <a:ext uri="{FF2B5EF4-FFF2-40B4-BE49-F238E27FC236}">
                <a16:creationId xmlns:a16="http://schemas.microsoft.com/office/drawing/2014/main" id="{D6A4D913-98E0-9210-A2A4-4CC47C578C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988" y="1815442"/>
            <a:ext cx="5946012" cy="4351338"/>
          </a:xfrm>
        </p:spPr>
        <p:txBody>
          <a:bodyPr>
            <a:normAutofit/>
          </a:bodyPr>
          <a:lstStyle/>
          <a:p>
            <a:r>
              <a:rPr lang="ru-RU" sz="1600" dirty="0"/>
              <a:t>Прогноз на первый год:</a:t>
            </a:r>
          </a:p>
          <a:p>
            <a:r>
              <a:rPr lang="ru-RU" sz="1600" dirty="0"/>
              <a:t>Пользователи (B2C): 10 000 человек. • Платные подписчики: 500 человек × 149 руб. = 74 500 руб./мес.</a:t>
            </a:r>
          </a:p>
          <a:p>
            <a:r>
              <a:rPr lang="ru-RU" sz="1600" dirty="0"/>
              <a:t>B2B Клиенты: 5 компаний × 20 000 руб. = 100 000 руб./мес.</a:t>
            </a:r>
          </a:p>
          <a:p>
            <a:r>
              <a:rPr lang="ru-RU" sz="1600" dirty="0"/>
              <a:t>Итого доход: ~174 500 руб./мес.</a:t>
            </a:r>
          </a:p>
          <a:p>
            <a:endParaRPr lang="ru-RU" sz="1600" dirty="0"/>
          </a:p>
          <a:p>
            <a:r>
              <a:rPr lang="ru-RU" sz="1600" dirty="0"/>
              <a:t>Расчет окупаемости:</a:t>
            </a:r>
          </a:p>
          <a:p>
            <a:r>
              <a:rPr lang="ru-RU" sz="1600" dirty="0"/>
              <a:t>Ежемесячная чистая прибыль (Доход - OPEX): 174 500 - 120 000 = 54 500 руб. </a:t>
            </a:r>
          </a:p>
          <a:p>
            <a:r>
              <a:rPr lang="ru-RU" sz="1600" i="1" dirty="0"/>
              <a:t>Примечание:</a:t>
            </a:r>
            <a:r>
              <a:rPr lang="ru-RU" sz="1600" dirty="0"/>
              <a:t> На этапе роста прибыль небольшая, так как основная цель — захват рынка. </a:t>
            </a:r>
          </a:p>
          <a:p>
            <a:r>
              <a:rPr lang="ru-RU" sz="1600" dirty="0"/>
              <a:t>Точка безубыточности: Достигается при масштабировании до 20 000 пользователей и 15 B2B клиентов (~350 000 руб. дохода в месяц).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148CD01-B147-82E5-D216-6BC2D6CB4820}"/>
              </a:ext>
            </a:extLst>
          </p:cNvPr>
          <p:cNvSpPr txBox="1"/>
          <p:nvPr/>
        </p:nvSpPr>
        <p:spPr>
          <a:xfrm>
            <a:off x="6427433" y="2086252"/>
            <a:ext cx="25922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Срок окупаемости инвестиций</a:t>
            </a:r>
            <a:r>
              <a:rPr lang="en-US" dirty="0"/>
              <a:t>: </a:t>
            </a:r>
            <a:r>
              <a:rPr lang="ru-RU" dirty="0"/>
              <a:t>18–24 месяца с момента запуска.</a:t>
            </a:r>
          </a:p>
        </p:txBody>
      </p:sp>
    </p:spTree>
    <p:extLst>
      <p:ext uri="{BB962C8B-B14F-4D97-AF65-F5344CB8AC3E}">
        <p14:creationId xmlns:p14="http://schemas.microsoft.com/office/powerpoint/2010/main" val="3483484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260471-CF37-41A6-A525-02DD85A55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Аналоги</a:t>
            </a:r>
          </a:p>
        </p:txBody>
      </p:sp>
      <p:graphicFrame>
        <p:nvGraphicFramePr>
          <p:cNvPr id="7" name="Таблица 10">
            <a:extLst>
              <a:ext uri="{FF2B5EF4-FFF2-40B4-BE49-F238E27FC236}">
                <a16:creationId xmlns:a16="http://schemas.microsoft.com/office/drawing/2014/main" id="{1604A965-B72F-4996-808E-BB3DD6D6BE6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58120832"/>
              </p:ext>
            </p:extLst>
          </p:nvPr>
        </p:nvGraphicFramePr>
        <p:xfrm>
          <a:off x="328556" y="2024320"/>
          <a:ext cx="8814967" cy="35686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5273">
                  <a:extLst>
                    <a:ext uri="{9D8B030D-6E8A-4147-A177-3AD203B41FA5}">
                      <a16:colId xmlns:a16="http://schemas.microsoft.com/office/drawing/2014/main" val="1060721299"/>
                    </a:ext>
                  </a:extLst>
                </a:gridCol>
                <a:gridCol w="2319898">
                  <a:extLst>
                    <a:ext uri="{9D8B030D-6E8A-4147-A177-3AD203B41FA5}">
                      <a16:colId xmlns:a16="http://schemas.microsoft.com/office/drawing/2014/main" val="3730294796"/>
                    </a:ext>
                  </a:extLst>
                </a:gridCol>
                <a:gridCol w="2319898">
                  <a:extLst>
                    <a:ext uri="{9D8B030D-6E8A-4147-A177-3AD203B41FA5}">
                      <a16:colId xmlns:a16="http://schemas.microsoft.com/office/drawing/2014/main" val="2835790685"/>
                    </a:ext>
                  </a:extLst>
                </a:gridCol>
                <a:gridCol w="2319898">
                  <a:extLst>
                    <a:ext uri="{9D8B030D-6E8A-4147-A177-3AD203B41FA5}">
                      <a16:colId xmlns:a16="http://schemas.microsoft.com/office/drawing/2014/main" val="3241802405"/>
                    </a:ext>
                  </a:extLst>
                </a:gridCol>
              </a:tblGrid>
              <a:tr h="892153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Название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Преимущество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Минус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Преимущество проекта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4826020"/>
                  </a:ext>
                </a:extLst>
              </a:tr>
              <a:tr h="8921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01.</a:t>
                      </a:r>
                      <a:r>
                        <a:rPr lang="en-US" b="1" dirty="0"/>
                        <a:t> </a:t>
                      </a:r>
                      <a:r>
                        <a:rPr lang="en-US" b="1" dirty="0" err="1"/>
                        <a:t>IQAir</a:t>
                      </a:r>
                      <a:r>
                        <a:rPr lang="en-US" b="1" dirty="0"/>
                        <a:t> AirVisual</a:t>
                      </a:r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Прогноз по всему миру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Очень усреднённые данные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Точные данные для конкретных городов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9297412"/>
                  </a:ext>
                </a:extLst>
              </a:tr>
              <a:tr h="892153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02.</a:t>
                      </a: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BreezoMeter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Лучшая точность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Игнорирование рельефа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Учёт даже мелких деталей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5992689"/>
                  </a:ext>
                </a:extLst>
              </a:tr>
              <a:tr h="892153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03.</a:t>
                      </a: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AirVoice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Охват многих городов России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Данные только на нынешний момент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Есть прогноз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18035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178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260471-CF37-41A6-A525-02DD85A55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Недостатки</a:t>
            </a:r>
          </a:p>
        </p:txBody>
      </p:sp>
      <p:sp>
        <p:nvSpPr>
          <p:cNvPr id="4" name="Нижний колонтитул 4">
            <a:extLst>
              <a:ext uri="{FF2B5EF4-FFF2-40B4-BE49-F238E27FC236}">
                <a16:creationId xmlns:a16="http://schemas.microsoft.com/office/drawing/2014/main" id="{E08C957F-4112-4133-9044-85BF40051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000" y="6590454"/>
            <a:ext cx="7650000" cy="365126"/>
          </a:xfrm>
        </p:spPr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Шаблоны презентаций с сайта </a:t>
            </a:r>
            <a:r>
              <a:rPr lang="en-US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/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240D9285-B0C6-4610-955E-F20B74601D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941" y="2124386"/>
            <a:ext cx="5794880" cy="37191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Очень сложно создавать прогноз для других городов</a:t>
            </a:r>
            <a:r>
              <a:rPr lang="en-US" sz="2000" dirty="0"/>
              <a:t>:</a:t>
            </a:r>
          </a:p>
          <a:p>
            <a:pPr marL="0" indent="0">
              <a:buNone/>
            </a:pPr>
            <a:r>
              <a:rPr lang="ru-RU" sz="2000" dirty="0"/>
              <a:t>	Это связано с тем что ИИ учитывает 	мельчайшие детали характерные для 	определённых регионов</a:t>
            </a:r>
          </a:p>
          <a:p>
            <a:pPr marL="0" indent="0">
              <a:buNone/>
            </a:pPr>
            <a:r>
              <a:rPr lang="ru-RU" sz="2000" dirty="0"/>
              <a:t>Сложность монетизации</a:t>
            </a:r>
            <a:r>
              <a:rPr lang="en-US" sz="2000" dirty="0"/>
              <a:t>:</a:t>
            </a:r>
          </a:p>
          <a:p>
            <a:pPr marL="0" indent="0">
              <a:buNone/>
            </a:pPr>
            <a:r>
              <a:rPr lang="en-US" sz="2000" dirty="0"/>
              <a:t>	</a:t>
            </a:r>
            <a:r>
              <a:rPr lang="ru-RU" sz="2000" dirty="0"/>
              <a:t>Люди в промышленных городах уже 	привыкли к теме </a:t>
            </a:r>
            <a:r>
              <a:rPr lang="en-US" sz="2000" dirty="0"/>
              <a:t>’’</a:t>
            </a:r>
            <a:r>
              <a:rPr lang="ru-RU" sz="2000" dirty="0"/>
              <a:t>Чёрного неба</a:t>
            </a:r>
            <a:r>
              <a:rPr lang="en-US" sz="2000" dirty="0"/>
              <a:t>’’ </a:t>
            </a:r>
            <a:r>
              <a:rPr lang="ru-RU" sz="2000" dirty="0"/>
              <a:t>и не все 	готовы платить за эту информацию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692898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260471-CF37-41A6-A525-02DD85A55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Сильные стороны проекта</a:t>
            </a:r>
          </a:p>
        </p:txBody>
      </p:sp>
      <p:sp>
        <p:nvSpPr>
          <p:cNvPr id="4" name="Нижний колонтитул 4">
            <a:extLst>
              <a:ext uri="{FF2B5EF4-FFF2-40B4-BE49-F238E27FC236}">
                <a16:creationId xmlns:a16="http://schemas.microsoft.com/office/drawing/2014/main" id="{E08C957F-4112-4133-9044-85BF40051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000" y="6590454"/>
            <a:ext cx="7650000" cy="365126"/>
          </a:xfrm>
        </p:spPr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Шаблоны презентаций с сайта </a:t>
            </a:r>
            <a:r>
              <a:rPr lang="en-US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504A93-B98E-7B6F-424E-255FACCF13FA}"/>
              </a:ext>
            </a:extLst>
          </p:cNvPr>
          <p:cNvSpPr txBox="1"/>
          <p:nvPr/>
        </p:nvSpPr>
        <p:spPr>
          <a:xfrm>
            <a:off x="390618" y="1855432"/>
            <a:ext cx="867348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Очень точные прогноз</a:t>
            </a:r>
            <a:r>
              <a:rPr lang="en-US" sz="2400" dirty="0"/>
              <a:t>:</a:t>
            </a:r>
          </a:p>
          <a:p>
            <a:r>
              <a:rPr lang="ru-RU" sz="2400" dirty="0"/>
              <a:t>	Из за локальной работы сервиса прогноз становиться 	крайне точным</a:t>
            </a:r>
          </a:p>
          <a:p>
            <a:r>
              <a:rPr lang="ru-RU" sz="2400" dirty="0"/>
              <a:t>Один из немногих Российских аналогов</a:t>
            </a:r>
            <a:r>
              <a:rPr lang="en-US" sz="2400" dirty="0"/>
              <a:t>:</a:t>
            </a:r>
          </a:p>
          <a:p>
            <a:r>
              <a:rPr lang="en-US" sz="2400" dirty="0"/>
              <a:t>	</a:t>
            </a:r>
            <a:r>
              <a:rPr lang="ru-RU" sz="2400" dirty="0"/>
              <a:t>Основную конкуренцию составляют только иностранные 	аналоги </a:t>
            </a:r>
          </a:p>
          <a:p>
            <a:endParaRPr lang="ru-RU" sz="2400" dirty="0"/>
          </a:p>
          <a:p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086386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9">
            <a:extLst>
              <a:ext uri="{FF2B5EF4-FFF2-40B4-BE49-F238E27FC236}">
                <a16:creationId xmlns:a16="http://schemas.microsoft.com/office/drawing/2014/main" id="{D338E78D-9B63-4EB6-8A2B-E1CC8DD00C51}"/>
              </a:ext>
            </a:extLst>
          </p:cNvPr>
          <p:cNvSpPr txBox="1">
            <a:spLocks/>
          </p:cNvSpPr>
          <p:nvPr/>
        </p:nvSpPr>
        <p:spPr>
          <a:xfrm>
            <a:off x="3334872" y="1548148"/>
            <a:ext cx="5522258" cy="1150267"/>
          </a:xfrm>
          <a:prstGeom prst="rect">
            <a:avLst/>
          </a:prstGeom>
          <a:effectLst>
            <a:outerShdw blurRad="50800" dist="38100" dir="5400000" algn="t" rotWithShape="0">
              <a:schemeClr val="accent4">
                <a:lumMod val="50000"/>
                <a:alpha val="40000"/>
              </a:schemeClr>
            </a:outerShdw>
          </a:effectLst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6000" b="1" dirty="0">
                <a:solidFill>
                  <a:schemeClr val="accent1"/>
                </a:solidFill>
              </a:rPr>
              <a:t>СПАСИБО ЗА ВНИМАНИЕ</a:t>
            </a:r>
          </a:p>
        </p:txBody>
      </p:sp>
      <p:sp>
        <p:nvSpPr>
          <p:cNvPr id="8" name="Текст 11">
            <a:extLst>
              <a:ext uri="{FF2B5EF4-FFF2-40B4-BE49-F238E27FC236}">
                <a16:creationId xmlns:a16="http://schemas.microsoft.com/office/drawing/2014/main" id="{DD74839E-6A64-467A-BA2F-9EF5F2388467}"/>
              </a:ext>
            </a:extLst>
          </p:cNvPr>
          <p:cNvSpPr txBox="1">
            <a:spLocks/>
          </p:cNvSpPr>
          <p:nvPr/>
        </p:nvSpPr>
        <p:spPr>
          <a:xfrm>
            <a:off x="2608499" y="2885011"/>
            <a:ext cx="6975002" cy="170572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ru-RU" sz="16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2488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844</TotalTime>
  <Words>515</Words>
  <Application>Microsoft Office PowerPoint</Application>
  <PresentationFormat>Широкоэкранный</PresentationFormat>
  <Paragraphs>77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Тема Office</vt:lpstr>
      <vt:lpstr>Air Project</vt:lpstr>
      <vt:lpstr>Проблема (Почему это важно?)</vt:lpstr>
      <vt:lpstr>Решение</vt:lpstr>
      <vt:lpstr>Как работает ИИ?</vt:lpstr>
      <vt:lpstr>Планирование для групп риска</vt:lpstr>
      <vt:lpstr>Экономика</vt:lpstr>
      <vt:lpstr>Окупаемость</vt:lpstr>
      <vt:lpstr>Аналоги</vt:lpstr>
      <vt:lpstr>Недостатки</vt:lpstr>
      <vt:lpstr>Сильные стороны проекта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Завод и голубое небо - шаблон презентации с сайта presentation-creation.ru</dc:title>
  <dc:creator>User Obstinate</dc:creator>
  <cp:lastModifiedBy>B-Zone</cp:lastModifiedBy>
  <cp:revision>8</cp:revision>
  <dcterms:created xsi:type="dcterms:W3CDTF">2025-03-13T19:04:47Z</dcterms:created>
  <dcterms:modified xsi:type="dcterms:W3CDTF">2026-05-02T04:50:57Z</dcterms:modified>
</cp:coreProperties>
</file>